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EXECUTIVE RETAIL BRIEFING | 2026 STRATEGIC REPORT</a:t>
            </a:r>
          </a:p>
          <a:p>
            <a:pPr>
              <a:spcBef>
                <a:spcPts val="1500"/>
              </a:spcBef>
              <a:defRPr sz="3600" b="1">
                <a:solidFill>
                  <a:srgbClr val="FFFFFF"/>
                </a:solidFill>
              </a:defRPr>
            </a:pPr>
            <a:r>
              <a:t>Consumer Shopping Behavior &amp;</a:t>
            </a:r>
            <a:br/>
            <a:r>
              <a:t>Omnichannel Growth Strategy</a:t>
            </a:r>
          </a:p>
          <a:p>
            <a:pPr>
              <a:spcBef>
                <a:spcPts val="1500"/>
              </a:spcBef>
              <a:defRPr sz="1600">
                <a:solidFill>
                  <a:srgbClr val="CBD5E1"/>
                </a:solidFill>
              </a:defRPr>
            </a:pPr>
            <a:r>
              <a:t>Transforming 3,900 customer transactions into revenue expansion, customer segmentation &amp; merchandising agility.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5120640"/>
            <a:ext cx="1033272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E2E8F0"/>
                </a:solidFill>
              </a:defRPr>
            </a:pPr>
            <a:r>
              <a:t>Analysis Methodology: Python Data Pipeline (Cleaning &amp; Imputation) | Unsupervised K-Means Clustering | Star Schema SQL Architecture |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EXECUTIVE 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Enterprise Commercial Baseline &amp; Core KPIs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Consistent baseline performance with high latent expansion opportunities.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560320" cy="16459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TOTAL REVENUE</a:t>
            </a:r>
          </a:p>
          <a:p>
            <a:pPr algn="ctr">
              <a:defRPr sz="2600" b="1">
                <a:solidFill>
                  <a:srgbClr val="0F172A"/>
                </a:solidFill>
              </a:defRPr>
            </a:pPr>
            <a:r>
              <a:t>$233,081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Across 4 Product Lines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828800"/>
            <a:ext cx="2560320" cy="16459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AVERAGE ORDER VALUE</a:t>
            </a:r>
          </a:p>
          <a:p>
            <a:pPr algn="ctr">
              <a:defRPr sz="2600" b="1">
                <a:solidFill>
                  <a:srgbClr val="0F172A"/>
                </a:solidFill>
              </a:defRPr>
            </a:pPr>
            <a:r>
              <a:t>$59.76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Healthy Basket Benchmark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2560320" cy="16459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SATISFACTION RATING</a:t>
            </a:r>
          </a:p>
          <a:p>
            <a:pPr algn="ctr">
              <a:defRPr sz="2600" b="1">
                <a:solidFill>
                  <a:srgbClr val="0F172A"/>
                </a:solidFill>
              </a:defRPr>
            </a:pPr>
            <a:r>
              <a:t>3.75 / 5.0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Stable Across Categories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828800"/>
            <a:ext cx="2560320" cy="16459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SUBSCRIPTION RATE</a:t>
            </a:r>
          </a:p>
          <a:p>
            <a:pPr algn="ctr">
              <a:defRPr sz="2600" b="1">
                <a:solidFill>
                  <a:srgbClr val="0F172A"/>
                </a:solidFill>
              </a:defRPr>
            </a:pPr>
            <a:r>
              <a:t>27.0%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1,053 Members (100% Male)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2578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Commercial Strengths &amp; Volume Engines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Apparel &amp; Accessories generate 76.5% of sales ($104.3K Clothing, $74.2K Accessories).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Online Shipping represents 83.3% of order volume, driving scale.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In-Store Pickup (16.7%) creates high-margin physical foot-traffic touchpoints.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40480"/>
            <a:ext cx="52578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Strategic Bottlenecks Requiring Action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Zero female shoppers (0/1,248) are enrolled in subscriptions or receive promo codes.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Discounts do NOT lift order value ($59.28 discount vs $60.13 full price) — pure margin drain.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• Untapped female subscription potential represents +$52K to +$115K in annual revenue.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STRATEGIC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Historical Business Model: Legacy Men's Grooming Roots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Why 100% of subscribers and promotional discounts belong exclusively to male accounts.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The Business Evolution Story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The empirical structure of the database reveals a strict chronological split: Customers #1 to #2,652 are all Male, while Customers #2,653 to #3,900 are all Female.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The enterprise originated as a dedicated Men's Grooming &amp; Shaving Subscription Club (analogous to Dollar Shave Club), where recurring deliveries were tailored exclusively to men.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Upon successfully expanding the catalog into general lifestyle apparel (adding Dresses, Blouses, Skirts, and Jewelry), subscription privileges and automated discount codes remained grandfathered in the legacy male database.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Incoming female shoppers entered organically as full-price retail customers, creating an apparent demographic anomaly that is actually a massive commercial opportunity.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530352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1. 100% Male Subscription Penetration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All 1,053 subscribers are male. Shaving &amp; grooming routines represent the classic high-frequency, male-oriented direct-to-consumer subscription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337560"/>
            <a:ext cx="530352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2. Sequential Customer ID Onboarding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Customers #1 to #2,652 are male legacy club members. Female shoppers (#2,653 to #3,900) joined later during general retail expansion.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846320"/>
            <a:ext cx="530352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3. Grandfathered Promo Automation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All 1,677 discounts were dispatched to legacy male member lists. Newly acquired female shoppers entered as full-price retail buyers.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CRITICAL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Female Engagement Paradox: Zero Subscriptions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1,248 female shoppers spend more per basket ($60.25 vs $59.54) but receive zero loyalty access.</a:t>
            </a:r>
          </a:p>
        </p:txBody>
      </p:sp>
      <p:pic>
        <p:nvPicPr>
          <p:cNvPr id="6" name="Picture 5" descr="04_gender_subscription_discount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6217920" cy="266482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828800"/>
            <a:ext cx="4297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Strategic Demographic Insights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Female shoppers represent 32.0% of customer volume (1,248 shoppers) and generate $75,191 in sales.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Higher Average Order Value ($60.25 vs $59.54) proves high female commercial intent without promotional crutches.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0% Subscriptions &amp; 0% Discounts: Current marketing channels fail to expose women to the loyalty program.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Closing this gap via a curated female lifestyle subscription will drive substantial high-margin recurring cash 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PRICING &amp; ROI 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Marketing Drivers &amp; The Promotional Margin Trap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Empirical proof that blanket discounting erodes gross margins without lifting basket size.</a:t>
            </a:r>
          </a:p>
        </p:txBody>
      </p:sp>
      <p:pic>
        <p:nvPicPr>
          <p:cNvPr id="6" name="Picture 5" descr="05_marketing_drivers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6217920" cy="1727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828800"/>
            <a:ext cx="4297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Pricing &amp; Discount Findings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Discounted orders average $59.28 vs $60.13 for full-price transactions (-$0.85 per basket).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Identical customer ratings (3.74 with promo vs 3.76 full price) confirm discounts do not improve satisfaction.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Box plot analysis reveals identical transaction spend distributions across promo and non-promo orders.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Recommendation: Eliminate blanket percentage discounts. Transition to minimum spend thresholds ($75+ for perks).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MERCHANDISING AGILITY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Seasonality Patterns &amp; Category Revenue Matrix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Balancing steady accessory demand with seasonal apparel demand spikes.</a:t>
            </a:r>
          </a:p>
        </p:txBody>
      </p:sp>
      <p:pic>
        <p:nvPicPr>
          <p:cNvPr id="6" name="Picture 5" descr="06_seasonality_categor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6217920" cy="373075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828800"/>
            <a:ext cx="4297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Supply Chain Recommendations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Clothing volume peaks strongly in Spring ($27.6K) and Winter ($27.2K) — align inventory procurement 60 days ahead.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Accessories generate a rock-steady $17K–$19.8K across all four seasons, serving as the enterprise revenue stabilizer.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Top 5 revenue drivers: Blouses ($10.4K), Shirts ($10.3K), Dresses ($10.3K), Pants ($10.1K), and Jewelry ($10.0K).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Bundle seasonal clothing surges with evergreen accessories to lift overall basket size above $75.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BEHAVIORAL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Behavioral Customer Segmentation (K-Means, k=4)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Segmenting 3,900 customers into 4 actionable behavioral segments using Age, Spend, and Order Depth.</a:t>
            </a:r>
          </a:p>
        </p:txBody>
      </p:sp>
      <p:pic>
        <p:nvPicPr>
          <p:cNvPr id="6" name="Picture 5" descr="02_customer_segments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6217920" cy="367422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828800"/>
            <a:ext cx="4297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Actionable Segment Strategies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Young Emerging (31.6%): Age 18–35, seeking modern styles, digital checkout, and mobile notifications.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Value Occasionals (28.8%): Price-conscious buyers driven by free shipping perks and seasonal replenishment.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Core Loyalists (25.7%): Steady repeat shoppers with 25+ orders; prime candidates for VIP loyalty tiers.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Premium Spenders (13.8%): High-ticket shoppers ($70+ per basket); low price sensitivity, responsive to luxury lines.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RETENTION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Customer Lifetime Value (CLV) &amp; Loyalty Tiers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Evaluating customer economics from Bronze newcomers to Platinum brand champions.</a:t>
            </a:r>
          </a:p>
        </p:txBody>
      </p:sp>
      <p:pic>
        <p:nvPicPr>
          <p:cNvPr id="6" name="Picture 5" descr="07_loyalty_clv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6217920" cy="3108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828800"/>
            <a:ext cx="4297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Retention Value Architecture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Platinum Loyalists (46+ past orders) generate $3,027 in estimated CLV — 6x higher than Bronze newcomers ($526).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Gold tier customers (31–45 orders) average $2,298 in CLV, proving strong return on retention programs.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Retaining an existing customer is 5x cheaper than acquiring a new customer in competitive retail.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• Implement exclusive concierge perks, early access drops, and anniversary rewards for Gold and Platinum tiers.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REVENUE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What-If Simulation: Female Subscription Opportunity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Quantifying projected revenue lift across three adoption scenarios.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43891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CONSERVATIVE SCENARIO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0F172A"/>
                </a:solidFill>
              </a:defRPr>
            </a:pPr>
            <a:r>
              <a:t>25% Adoption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0284C7"/>
                </a:solidFill>
              </a:defRPr>
            </a:pPr>
            <a:r>
              <a:t>$52,000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Additional Annual Revenue</a:t>
            </a:r>
          </a:p>
          <a:p>
            <a:pPr algn="ctr">
              <a:spcBef>
                <a:spcPts val="1200"/>
              </a:spcBef>
              <a:defRPr sz="1800" b="1">
                <a:solidFill>
                  <a:srgbClr val="0F172A"/>
                </a:solidFill>
              </a:defRPr>
            </a:pPr>
            <a:r>
              <a:t>+22.3% Lift</a:t>
            </a:r>
          </a:p>
          <a:p>
            <a:pPr algn="ctr">
              <a:spcBef>
                <a:spcPts val="1600"/>
              </a:spcBef>
              <a:defRPr sz="1200">
                <a:solidFill>
                  <a:srgbClr val="1E293B"/>
                </a:solidFill>
              </a:defRPr>
            </a:pPr>
            <a:r>
              <a:t>312 Female Subscribers</a:t>
            </a:r>
            <a:br/>
            <a:r>
              <a:t>Modest rollout via email onboarding.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474720" cy="43891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BENCHMARK SCENARIO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0F172A"/>
                </a:solidFill>
              </a:defRPr>
            </a:pPr>
            <a:r>
              <a:t>40% Adoption (Male Parity)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10B981"/>
                </a:solidFill>
              </a:defRPr>
            </a:pPr>
            <a:r>
              <a:t>$85,000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Additional Annual Revenue</a:t>
            </a:r>
          </a:p>
          <a:p>
            <a:pPr algn="ctr">
              <a:spcBef>
                <a:spcPts val="1200"/>
              </a:spcBef>
              <a:defRPr sz="1800" b="1">
                <a:solidFill>
                  <a:srgbClr val="0F172A"/>
                </a:solidFill>
              </a:defRPr>
            </a:pPr>
            <a:r>
              <a:t>+36.5% Lift</a:t>
            </a:r>
          </a:p>
          <a:p>
            <a:pPr algn="ctr">
              <a:spcBef>
                <a:spcPts val="1600"/>
              </a:spcBef>
              <a:defRPr sz="1200">
                <a:solidFill>
                  <a:srgbClr val="1E293B"/>
                </a:solidFill>
              </a:defRPr>
            </a:pPr>
            <a:r>
              <a:t>499 Female Subscribers</a:t>
            </a:r>
            <a:br/>
            <a:r>
              <a:t>Dedicated female VIP lifestyle club.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828800"/>
            <a:ext cx="3474720" cy="43891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AGGRESSIVE SCENARIO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0F172A"/>
                </a:solidFill>
              </a:defRPr>
            </a:pPr>
            <a:r>
              <a:t>55% Penetration</a:t>
            </a:r>
          </a:p>
          <a:p>
            <a:pPr algn="ctr">
              <a:spcBef>
                <a:spcPts val="1200"/>
              </a:spcBef>
              <a:defRPr sz="3200" b="1">
                <a:solidFill>
                  <a:srgbClr val="F59E0B"/>
                </a:solidFill>
              </a:defRPr>
            </a:pPr>
            <a:r>
              <a:t>$115,000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Additional Annual Revenue</a:t>
            </a:r>
          </a:p>
          <a:p>
            <a:pPr algn="ctr">
              <a:spcBef>
                <a:spcPts val="1200"/>
              </a:spcBef>
              <a:defRPr sz="1800" b="1">
                <a:solidFill>
                  <a:srgbClr val="0F172A"/>
                </a:solidFill>
              </a:defRPr>
            </a:pPr>
            <a:r>
              <a:t>+49.3% Lift</a:t>
            </a:r>
          </a:p>
          <a:p>
            <a:pPr algn="ctr">
              <a:spcBef>
                <a:spcPts val="1600"/>
              </a:spcBef>
              <a:defRPr sz="1200">
                <a:solidFill>
                  <a:srgbClr val="1E293B"/>
                </a:solidFill>
              </a:defRPr>
            </a:pPr>
            <a:r>
              <a:t>686 Female Subscribers</a:t>
            </a:r>
            <a:br/>
            <a:r>
              <a:t>Multi-channel influencer launch.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EXECUTION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90-Day Strategic Roadmap &amp; Next Steps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Structured quarterly milestones to capture female revenue and protect profit margins.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DAYS 1 - 30: IMMEDIATE FIXES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Halt blanket margin-eroding discounts across product catalog.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Introduce a $75 minimum order threshold for free shipping perks.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Audit email automation to eliminate legacy male-only campaign targeting.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37560"/>
            <a:ext cx="1069848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DAYS 31 - 60: SUBSCRIPTION LAUNCH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Design and pilot curated Female Lifestyle &amp; Accessories Subscription.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Target initial 25% female cohort with personalized onboarding gifts.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Integrate BOPIS (In-Store Pickup) VIP express lane for subscribers.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1069848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DAYS 61 - 90: AI SCALING &amp; CRM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Deploy K-Means customer segmentation into marketing CRM.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Automate replenishment triggers based on past purchase frequency.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• Launch Platinum concierge loyalty tier for 46+ order champions.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